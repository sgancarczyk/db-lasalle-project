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pl-PL" sz="1100" b="0" i="0" u="none" strike="noStrike">
                <a:solidFill>
                  <a:srgbClr val="1A3A5C"/>
                </a:solidFill>
                <a:latin typeface="Arial"/>
              </a:rPr>
              <a:t>Top 5 by sponsorship (M 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Sponsorship (M USD)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Canada</c:v>
                </c:pt>
                <c:pt idx="1">
                  <c:v>Great Britain</c:v>
                </c:pt>
                <c:pt idx="2">
                  <c:v>Poland</c:v>
                </c:pt>
                <c:pt idx="3">
                  <c:v>France</c:v>
                </c:pt>
                <c:pt idx="4">
                  <c:v>Japan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326</c:v>
                </c:pt>
                <c:pt idx="1">
                  <c:v>314</c:v>
                </c:pt>
                <c:pt idx="2">
                  <c:v>314</c:v>
                </c:pt>
                <c:pt idx="3">
                  <c:v>309</c:v>
                </c:pt>
                <c:pt idx="4">
                  <c:v>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ED-3C4B-9836-5F200C3B96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21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583680" y="457200"/>
            <a:ext cx="640080" cy="640080"/>
          </a:xfrm>
          <a:prstGeom prst="ellipse">
            <a:avLst/>
          </a:prstGeom>
          <a:solidFill>
            <a:srgbClr val="1B6CA8">
              <a:alpha val="30000"/>
            </a:srgbClr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7132320" y="457200"/>
            <a:ext cx="640080" cy="640080"/>
          </a:xfrm>
          <a:prstGeom prst="ellipse">
            <a:avLst/>
          </a:prstGeom>
          <a:solidFill>
            <a:srgbClr val="B0BEC5">
              <a:alpha val="30000"/>
            </a:srgbClr>
          </a:solidFill>
          <a:ln w="254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80960" y="457200"/>
            <a:ext cx="640080" cy="640080"/>
          </a:xfrm>
          <a:prstGeom prst="ellipse">
            <a:avLst/>
          </a:prstGeom>
          <a:solidFill>
            <a:srgbClr val="C9A84C">
              <a:alpha val="30000"/>
            </a:srgbClr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640080" cy="640080"/>
          </a:xfrm>
          <a:prstGeom prst="ellipse">
            <a:avLst/>
          </a:prstGeom>
          <a:solidFill>
            <a:srgbClr val="2E7D32">
              <a:alpha val="30000"/>
            </a:srgbClr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7406640" y="1005840"/>
            <a:ext cx="640080" cy="640080"/>
          </a:xfrm>
          <a:prstGeom prst="ellipse">
            <a:avLst/>
          </a:prstGeom>
          <a:solidFill>
            <a:srgbClr val="C62828">
              <a:alpha val="30000"/>
            </a:srgbClr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2024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Games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Implementation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2926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Stanisław Gancarczyk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Salle — Universitat Ramon Llull   |   Databases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4864" cy="7132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48640" y="1289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Paris 2024 Olympics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4864" cy="7132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CSV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4864" cy="7132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sponsors.csv (Mockaroo)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210312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206240" y="1307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11,113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062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423160"/>
            <a:ext cx="210312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206240" y="2496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20624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611880"/>
            <a:ext cx="210312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20624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20624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Officials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234440"/>
            <a:ext cx="2103120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583680" y="1307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5836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423160"/>
            <a:ext cx="2103120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583680" y="2496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3,885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5836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entries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3611880"/>
            <a:ext cx="2103120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58368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58368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(custom)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the full Paris 2024 Olympic Games period, July 26 – August 11, 2024.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84632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generalisation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Athlete, Coach, and TechnicalOfficial share a common Person parent table (code, name, gender, birth_date). Avoids repeating shared attributes across all three tables — a direct 3NF requirement.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19472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≠ Country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645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officials can be appointed by international federations (FIG, FIBA, UCI) whose codes are absent from nocs.csv. A separate Organisation entity was required to represent both national committees and international bodies.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463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event_tag PK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events.csv has no natural unique event identifier. A composite key is generated as sport_code + '-' + cleaned event name. The same formula is applied consistently across all tables that reference event_tag as a foreign key.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91947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surrogate key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schedules.csv has no natural unique row identifier — the same event appears multiple times across different phases. A SEQUENCE-generated surrogate key (schedule_seq.NEXTVAL) was used instead.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Schema — 20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Reference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84048" y="21031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84048" y="2670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09544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84048" y="323697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76472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84048" y="380390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470457" cy="347472"/>
          </a:xfrm>
          <a:prstGeom prst="rect">
            <a:avLst/>
          </a:prstGeom>
          <a:solidFill>
            <a:srgbClr val="4CAF93"/>
          </a:solidFill>
          <a:ln w="12700">
            <a:solidFill>
              <a:srgbClr val="4CAF9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383280" y="1115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Hierarchy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517904"/>
            <a:ext cx="2470457" cy="466344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401568" y="15361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2470457" cy="448056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401568" y="21031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670048"/>
            <a:ext cx="2470457" cy="448056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401568" y="2670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9544"/>
            <a:ext cx="2470457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401568" y="323697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TechnicalOfficial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097280"/>
            <a:ext cx="28346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6035040" y="1115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Junction Tables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1508760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053328" y="15361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Sponsor · Event · Schedule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075688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6053328" y="21031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AthleteWinsMedal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2642616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6053328" y="2670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AthleteMemberOfTeam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209544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6053328" y="323697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CoachTrainsTeam · CoachWorksInSport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3776472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6053328" y="380390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TechOfficialOfficiatesInSport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4343400"/>
            <a:ext cx="2834640" cy="475488"/>
          </a:xfrm>
          <a:prstGeom prst="rect">
            <a:avLst/>
          </a:prstGeom>
          <a:solidFill>
            <a:srgbClr val="1D2E40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6053328" y="437083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SponsorSponsorsCountry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satisfy Third Normal Form. 7 junction tables resolve N:M relationships.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— Key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" y="1353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date conversion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755648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 Load converts ISO-8601 dates to NLS session format (DD-MON-RR HH.MI.SS.FF9 AM). Required CAST(TO_TIMESTAMP(..., 'DD-MON-RR HH.MI.SS.FF9 AM') AS DATE) instead of simple TO_DATE().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892040" y="135331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9204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76672" y="1353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code mismatch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755648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schedules.csv uses short codes (AQC, BCY) while venues.csv uses URL slugs (aquatics-centre, bercy-arena). Resolved with a 40-entry manual DECODE() mapping.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5720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" y="3227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strings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630168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teams.csv stores athlete/coach lists as Python strings: ['1913366', '1913367']. Pure SQL cannot parse these — a PL/SQL loop with REGEXP_SUBSTR was required.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892040" y="322783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8920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76672" y="3227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event_tag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630168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 'Women +78kg' and 'Women -78kg' produced identical tags after REGEXP_REPLACE. Resolved by substituting + → 'plus' and - → 'minus' before cleaning.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with more than 2 gold medals in a single sport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5720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s.sport_name,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COUNT(awm.medal_code) AS gold_medals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AthleteWinsMedal awm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Medal m  ON awm.medal_code = m.medal_code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AND m.medal_type = 'Gold Medal'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Event e  ON awm.event_tag   = e.event_tag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Sport s  ON e.sport_code    = s.sport_code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Person p ON awm.athlete_code = p.code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p.name, s.sport_name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COUNT(awm.medal_code) &gt;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gold_medals DESC;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0" y="1097280"/>
            <a:ext cx="3703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257800" y="1170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370332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21208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 Leon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1490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14904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783080"/>
            <a:ext cx="3703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BILES Simone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1810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Gymnastics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103120"/>
            <a:ext cx="370332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21208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CARRINGTON Lisa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2130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Canoe Sprint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2130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423160"/>
            <a:ext cx="3703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212080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HUSKE Torri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743200"/>
            <a:ext cx="370332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212080" y="2770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Woojin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2770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063240"/>
            <a:ext cx="3703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5212080" y="3090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LAVREYSEN Harrie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 Track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3383280"/>
            <a:ext cx="370332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521208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 Sihyeon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3410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3410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3703320"/>
            <a:ext cx="3703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5212080" y="3730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McINTOSH Summer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38160" y="37307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4023360"/>
            <a:ext cx="370332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5212080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Gabrielle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050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JOIN · GROUP BY · HAVING · COUNT · aggregate function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most medals also win most sponsorship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57200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c.country, SUM(sp.sponsorship_budget)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AS total_sponsorship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Sponsor sp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Country c ON sp.country_code = c.country_code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sp.country_code IN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DISTINCT a.country_code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AthleteWinsMedal awm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Athlete a ON awm.athlete_code = a.code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c.country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total_sponsorship DESC;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0" y="1097280"/>
          <a:ext cx="3749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JOIN · IN subquery · GROUP BY · SUM · ORDER BY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 3  —  Bonus: RANK() Window Function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2024 Medal Standings — Olympic ranking order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5720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c.country,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COUNT(CASE WHEN m.medal_type = 'Gold Medal'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THEN 1 END) AS gold,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COUNT(CASE WHEN m.medal_type = 'Silver Medal'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THEN 1 END) AS silver,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COUNT(CASE WHEN m.medal_type = 'Bronze Medal'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THEN 1 END) AS bronze,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COUNT(CASE WHEN m.medal_type = 'Gold Medal'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THEN 1 END) DESC,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COUNT(CASE WHEN m.medal_type = 'Silver Medal'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THEN 1 END) DESC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standing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AthleteWinsMedal awm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c.country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WHERE standing &lt;= 10;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74920" y="1097280"/>
            <a:ext cx="3657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074920" y="1115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22392" y="11155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76872" y="11155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0" y="11155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44968" y="11155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29016" y="111556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1444752"/>
            <a:ext cx="36576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074920" y="1481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2392" y="1481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76872" y="14813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0920" y="14813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44968" y="14813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29016" y="148132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177393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074920" y="18105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22392" y="1810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76872" y="18105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18105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44968" y="18105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29016" y="1810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2103120"/>
            <a:ext cx="36576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5074920" y="21396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22392" y="2139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76872" y="2139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2139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44968" y="2139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29016" y="21396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43230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5074920" y="24688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22392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76872" y="2468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2468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44968" y="2468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29016" y="246888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2761488"/>
            <a:ext cx="36576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5074920" y="27980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22392" y="2798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Britain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76872" y="27980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60920" y="27980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44968" y="27980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29016" y="27980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309067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5074920" y="3127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22392" y="3127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76872" y="31272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60920" y="31272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44968" y="31272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29016" y="31272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74920" y="3419856"/>
            <a:ext cx="36576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5074920" y="34564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22392" y="3456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76872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60920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44968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29016" y="345643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74920" y="374904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Text 62"/>
          <p:cNvSpPr/>
          <p:nvPr/>
        </p:nvSpPr>
        <p:spPr>
          <a:xfrm>
            <a:off x="5074920" y="37856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22392" y="3785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7687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6092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4496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29016" y="37856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74920" y="4078224"/>
            <a:ext cx="36576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5074920" y="41148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22392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976872" y="4114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60920" y="4114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744968" y="4114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129016" y="411480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074920" y="440740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8" name="Text 76"/>
          <p:cNvSpPr/>
          <p:nvPr/>
        </p:nvSpPr>
        <p:spPr>
          <a:xfrm>
            <a:off x="5074920" y="44439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422392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976872" y="4443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360920" y="4443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744968" y="4443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129016" y="44439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20040" y="477316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RANK() OVER · CASE WHEN inside COUNT · subquery wrapper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dominance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1790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won 330 medals — nearly double China (168). The gap in gold medals (134 vs 71) is even larger, reflecting structural investment differences in Olympic sport.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correlation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sponsor countries are medal-winning nations. This is a Mockaroo dataset limitation but reflects a real trend: commercial investment follows competitive success.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3580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30352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investment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383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leads with 68 coaches — 12 more than the USA (56). Tonga has the highest coach-to-athlete ratio of 1.0, meaning one dedicated coach per athlete.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68496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320040" y="3968496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30352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315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AthleteCompetesInEvent contains medallists only (from medallists.csv). Queries Q4 and Q13 return null average age as a direct consequence. Q17 (birthday medals) returns no data — a factually valid result.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to 3NF removed all redundancy and made 32 queries significantly cleaner — one fact, one place.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CSV data is never clean. Venue code mismatches, Python list strings, and automatic date conversion by Oracle Data Load were the main obstacles.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914400" y="255117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scripts are essential for iterative development. Without DROP+CREATE at the top, debugging partial imports is nearly impossible.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914400" y="330098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more expressive than it first appears — RANK() OVER, correlated EXISTS/NOT EXISTS, and PL/SQL loops each address problems that simple SELECT-WHERE cannot solve.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078224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914400" y="40507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 must be documented clearly: empty query results are not always errors — sometimes they are meaningful answers about the dataset.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Stanisław Gancarczyk  ·  Databases 2025-2026  ·  La Salle — Universitat Ramon Llull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1317</Words>
  <Application>Microsoft Macintosh PowerPoint</Application>
  <PresentationFormat>Pokaz na ekranie (16:9)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 2024 Olympic Games Database</dc:title>
  <dc:subject>PptxGenJS Presentation</dc:subject>
  <dc:creator>Stanislaw Gancarczyk</dc:creator>
  <cp:lastModifiedBy>Gancarczyk Stanisław (STUD)</cp:lastModifiedBy>
  <cp:revision>2</cp:revision>
  <dcterms:created xsi:type="dcterms:W3CDTF">2026-05-15T23:25:53Z</dcterms:created>
  <dcterms:modified xsi:type="dcterms:W3CDTF">2026-05-16T00:38:27Z</dcterms:modified>
</cp:coreProperties>
</file>